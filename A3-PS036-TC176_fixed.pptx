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3974" y="-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n-IN" sz="1400" b="0" i="0" u="none" strike="noStrike">
                <a:solidFill>
                  <a:srgbClr val="1F2937"/>
                </a:solidFill>
                <a:latin typeface="Calibri"/>
              </a:rPr>
              <a:t>Signature size in bytes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Signature size (bytes)</c:v>
                </c:pt>
              </c:strCache>
            </c:strRef>
          </c:tx>
          <c:spPr>
            <a:solidFill>
              <a:srgbClr val="1A1AC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ECDSA / Ed25519</c:v>
                </c:pt>
                <c:pt idx="1">
                  <c:v>ML-DSA-44</c:v>
                </c:pt>
                <c:pt idx="2">
                  <c:v>SLH-DSA-128s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2420</c:v>
                </c:pt>
                <c:pt idx="2">
                  <c:v>7856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75-4DAF-93AF-511DB5E471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827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kshajshimoga.cy24@rvce.edu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A3-PS036-TC176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54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Cost and Benefit of Merkle Tree Ladder Mode for Post-Quantum DNSSEC: A Reproducible Benchmark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39" y="4480560"/>
            <a:ext cx="1051559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Akshaj </a:t>
            </a:r>
            <a:r>
              <a:rPr lang="en-US" sz="20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Shimoga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 Harini ,Aiman Suhana Khan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akshajshimoga.cy24@rvce.edu.in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,dharini.cy24@rvce.edu.in, aimansuhanak.cy25@rvce.edu.in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13, 2026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0ADD2A-F3CA-3278-6D18-546A77BC2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46" y="758797"/>
            <a:ext cx="1250021" cy="12071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Abstract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07288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Akshaj </a:t>
            </a:r>
            <a:r>
              <a:rPr lang="en-US" sz="1100" dirty="0" err="1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Shimoga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 Harini ,Aiman Suhana Khan •  A3-PS036-TC176</a:t>
            </a:r>
            <a:r>
              <a:rPr lang="en-US" sz="1100" dirty="0">
                <a:solidFill>
                  <a:srgbClr val="1A1AC8"/>
                </a:solidFill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October 13,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DNSSEC signs DNS answers so clients can spot forged ones. RSA and ECDSA signatures would not survive a large quantum computer.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signatures are far bigger, from tens to over a hundred times an ECDSA signature.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likes answers that fit in one UDP packet (about 1,200 bytes). Bigger ones get fragmented, which many networks drop, or retried over TCP.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 mode is meant to cut the signature bytes sent per answer. What it costs in signing time, verification time and cache is the open question we measure.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583680" y="1463040"/>
          <a:ext cx="5029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583680" y="5760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from FIPS 204/205 parameter sets [2]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Akshaj </a:t>
            </a:r>
            <a:r>
              <a:rPr lang="en-US" sz="1100" dirty="0" err="1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Shimoga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 Harini ,Aiman Suhana Khan •  A3-PS036-TC176</a:t>
            </a:r>
            <a:r>
              <a:rPr lang="en-US" sz="1100" dirty="0">
                <a:solidFill>
                  <a:srgbClr val="1A1AC8"/>
                </a:solidFill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October 13,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1A1AC8"/>
          </a:solidFill>
          <a:ln w="12700">
            <a:solidFill>
              <a:srgbClr val="1A1A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DNSSEC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signature on each DNS answer lets a resolver check it was not forged [1]. Today the algorithms are RSA and ECDSA.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548640" cy="548640"/>
          </a:xfrm>
          <a:prstGeom prst="ellipse">
            <a:avLst/>
          </a:prstGeom>
          <a:solidFill>
            <a:srgbClr val="1A1AC8"/>
          </a:solidFill>
          <a:ln w="12700">
            <a:solidFill>
              <a:srgbClr val="1A1A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problem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5603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SLH-DSA signatures run to several KB [2]. A UDP answer should stay near 1,200 bytes [4], or it fragments or falls back to TCP.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21040" y="1783080"/>
            <a:ext cx="548640" cy="548640"/>
          </a:xfrm>
          <a:prstGeom prst="ellipse">
            <a:avLst/>
          </a:prstGeom>
          <a:solidFill>
            <a:srgbClr val="1A1AC8"/>
          </a:solidFill>
          <a:ln w="12700">
            <a:solidFill>
              <a:srgbClr val="1A1A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 mode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5603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Merkle ladder is signed once. Each answer carries a short authentication path instead of a full signature [3].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measures an existing MTL implementation. It does not design new cryptography or claim any security proof.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Literature &amp; RFC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RFC Review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Akshaj </a:t>
            </a:r>
            <a:r>
              <a:rPr lang="en-US" sz="1100" dirty="0" err="1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Shimoga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 Harini ,Aiman Suhana Khan •  A3-PS036-TC176</a:t>
            </a:r>
            <a:r>
              <a:rPr lang="en-US" sz="1100" dirty="0">
                <a:solidFill>
                  <a:srgbClr val="1A1AC8"/>
                </a:solidFill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October 13,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 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RFC 4033, 4034, 4035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DNSSEC model: how signatures, keys and validation fit together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 FIPS 205 (SLH-DSA)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standard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Hash-based PQC signature with large signatures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draft-harvey-cfrg-mtl-mode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IETF draft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the Merkle Tree Ladder mode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RFC 9715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DNS over UDP should avoid IP fragmentation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drafts are work in progress, so the report will pin the exact version and commit we test against.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Akshaj </a:t>
            </a:r>
            <a:r>
              <a:rPr lang="en-US" sz="1100" dirty="0" err="1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Shimoga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 Harini ,Aiman Suhana Khan •  A3-PS036-TC176</a:t>
            </a:r>
            <a:r>
              <a:rPr lang="en-US" sz="1100" dirty="0">
                <a:solidFill>
                  <a:srgbClr val="1A1AC8"/>
                </a:solidFill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October 13,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pinned by digest, exact commits, hardware recorded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2880360"/>
            <a:ext cx="13716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788920" y="155448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Generate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240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 sizes from a fixed random seed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2880360"/>
            <a:ext cx="13716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29200" y="155448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Run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240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records and algorithm, with and without MTL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32320" y="2880360"/>
            <a:ext cx="13716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269480" y="155448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Measure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2240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time, verify time, bytes sent, memory; 30+ trials after warm-up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372600" y="2880360"/>
            <a:ext cx="13716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09760" y="155448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Report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646920" y="22402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Medians, confidence intervals, measured vs estimated cache, limits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Solution Optimization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Proposed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Akshaj </a:t>
            </a:r>
            <a:r>
              <a:rPr lang="en-US" sz="1100" dirty="0" err="1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Shimoga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 Harini ,Aiman Suhana Khan •  A3-PS036-TC176</a:t>
            </a:r>
            <a:r>
              <a:rPr lang="en-US" sz="1100" dirty="0">
                <a:solidFill>
                  <a:srgbClr val="1A1AC8"/>
                </a:solidFill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October 13,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749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MTL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MTL (under test)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measure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Transmitted bytes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PQC signature with every 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authentication path per answer; ladder signed once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 per answer, definition agreed with mentor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Signing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signature per record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Ladder built and signed, cost shared across answers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of 30+ trials, warm-up discarded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signature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check against the ladder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trials, with confidence intervals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/ 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Little extra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Ladder and paths have to be kept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memory measured; formula estimate kept separate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expected direction (fewer bytes, some extra state) is a hypothesis from the drafts, not a result. We report whatever the measurements show.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Architecture Design (UML Diagram)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&amp; Design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Akshaj </a:t>
            </a:r>
            <a:r>
              <a:rPr lang="en-US" sz="1100" dirty="0" err="1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Shimoga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 Harini ,Aiman Suhana Khan •  A3-PS036-TC176</a:t>
            </a:r>
            <a:r>
              <a:rPr lang="en-US" sz="1100" dirty="0">
                <a:solidFill>
                  <a:srgbClr val="1A1AC8"/>
                </a:solidFill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October 13,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680960" cy="4526280"/>
          </a:xfrm>
          <a:prstGeom prst="rect">
            <a:avLst/>
          </a:prstGeom>
          <a:solidFill>
            <a:srgbClr val="F8F9FF"/>
          </a:solidFill>
          <a:ln w="15875">
            <a:solidFill>
              <a:srgbClr val="1A1AC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(pinned by digest)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bench.yaml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24028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(fixed seed)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47472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 sign / verify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457200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Non-MTL sign / verify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347472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collector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bytes, memory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0" y="20116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results/*.csv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0" y="33832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+ plots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estimates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0" y="47548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+ demo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737360" y="2971800"/>
            <a:ext cx="0" cy="41148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2651760" y="2606040"/>
            <a:ext cx="640080" cy="105156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51760" y="3840480"/>
            <a:ext cx="64008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651760" y="4114800"/>
            <a:ext cx="640080" cy="82296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0" y="3840480"/>
            <a:ext cx="54864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5486400" y="4572000"/>
            <a:ext cx="548640" cy="36576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8046720" y="2423160"/>
            <a:ext cx="914400" cy="1417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287000" y="2834640"/>
            <a:ext cx="0" cy="54864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287000" y="4206240"/>
            <a:ext cx="0" cy="54864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22960" y="5577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implementation: mentor-supplied, commit pinned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Data Flow 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Akshaj </a:t>
            </a:r>
            <a:r>
              <a:rPr lang="en-US" sz="1100" dirty="0" err="1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Shimoga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 Harini ,Aiman Suhana Khan •  A3-PS036-TC176</a:t>
            </a:r>
            <a:r>
              <a:rPr lang="en-US" sz="1100" dirty="0">
                <a:solidFill>
                  <a:srgbClr val="1A1AC8"/>
                </a:solidFill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October 13,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C1C3C-BE7D-9964-4635-31C3AF944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820" y="1790616"/>
            <a:ext cx="7982360" cy="32767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A95AFA-050C-D09E-06D6-FDCE13DD4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820" y="1790616"/>
            <a:ext cx="7982360" cy="32767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AC2B87-37C4-9F86-DD8A-8DB63E46C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820" y="1790616"/>
            <a:ext cx="7982360" cy="32767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95B721-725C-14C0-D63F-8010D04A0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820" y="1790616"/>
            <a:ext cx="7982360" cy="32767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Deployment 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Timeline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Akshaj </a:t>
            </a:r>
            <a:r>
              <a:rPr lang="en-US" sz="1100" dirty="0" err="1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Shimoga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 Harini ,Aiman Suhana Khan •  A3-PS036-TC176</a:t>
            </a:r>
            <a:r>
              <a:rPr lang="en-US" sz="1100" dirty="0">
                <a:solidFill>
                  <a:srgbClr val="1A1AC8"/>
                </a:solidFill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October 13,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1A1AC8"/>
          </a:solidFill>
          <a:ln w="12700">
            <a:solidFill>
              <a:srgbClr val="1A1A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All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Date:</a:t>
            </a:r>
            <a:r>
              <a:rPr lang="en-IN" sz="1400" dirty="0"/>
              <a:t> 7–9 Oct </a:t>
            </a:r>
          </a:p>
          <a:p>
            <a:r>
              <a:rPr lang="en-IN" sz="1400" dirty="0"/>
              <a:t>Review the project brief, literature, MTL draft and reference implementation. Finalise the problem statement, algorithm and benchmark requirements.</a:t>
            </a:r>
          </a:p>
        </p:txBody>
      </p:sp>
      <p:sp>
        <p:nvSpPr>
          <p:cNvPr id="12" name="Text 10"/>
          <p:cNvSpPr/>
          <p:nvPr/>
        </p:nvSpPr>
        <p:spPr>
          <a:xfrm>
            <a:off x="2788920" y="155448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0" y="1691640"/>
            <a:ext cx="502920" cy="502920"/>
          </a:xfrm>
          <a:prstGeom prst="ellipse">
            <a:avLst/>
          </a:prstGeom>
          <a:solidFill>
            <a:srgbClr val="1A1AC8"/>
          </a:solidFill>
          <a:ln w="12700">
            <a:solidFill>
              <a:srgbClr val="1A1A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269748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Date:</a:t>
            </a:r>
            <a:r>
              <a:rPr lang="en-IN" sz="1400" dirty="0"/>
              <a:t> 10–12 Oct </a:t>
            </a:r>
          </a:p>
          <a:p>
            <a:endParaRPr lang="en-IN" sz="1400" dirty="0"/>
          </a:p>
          <a:p>
            <a:r>
              <a:rPr lang="en-IN" sz="1400" dirty="0"/>
              <a:t>Set up the Docker environment and Python runner. Test signing and verification with and without MTL on a small dataset.</a:t>
            </a:r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66360" y="1691640"/>
            <a:ext cx="502920" cy="502920"/>
          </a:xfrm>
          <a:prstGeom prst="ellipse">
            <a:avLst/>
          </a:prstGeom>
          <a:solidFill>
            <a:srgbClr val="1A1AC8"/>
          </a:solidFill>
          <a:ln w="12700">
            <a:solidFill>
              <a:srgbClr val="1A1A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66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benchmark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269748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Date:</a:t>
            </a:r>
            <a:r>
              <a:rPr lang="en-IN" sz="1400" dirty="0"/>
              <a:t> 13–16 Oct </a:t>
            </a:r>
          </a:p>
          <a:p>
            <a:endParaRPr lang="en-IN" sz="1400" dirty="0"/>
          </a:p>
          <a:p>
            <a:r>
              <a:rPr lang="en-IN" sz="1400" dirty="0"/>
              <a:t>Run tests on three dataset sizes with warm-up runs and 30+ trials. Measure transmitted bytes, signing time, verification time and memory usage.</a:t>
            </a:r>
          </a:p>
        </p:txBody>
      </p:sp>
      <p:sp>
        <p:nvSpPr>
          <p:cNvPr id="24" name="Text 22"/>
          <p:cNvSpPr/>
          <p:nvPr/>
        </p:nvSpPr>
        <p:spPr>
          <a:xfrm>
            <a:off x="7269480" y="155448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06640" y="1691640"/>
            <a:ext cx="502920" cy="502920"/>
          </a:xfrm>
          <a:prstGeom prst="ellipse">
            <a:avLst/>
          </a:prstGeom>
          <a:solidFill>
            <a:srgbClr val="1A1AC8"/>
          </a:solidFill>
          <a:ln w="12700">
            <a:solidFill>
              <a:srgbClr val="1A1AC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269748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Date:</a:t>
            </a:r>
            <a:r>
              <a:rPr lang="en-IN" sz="1400" dirty="0"/>
              <a:t> 17–19 Oct </a:t>
            </a:r>
          </a:p>
          <a:p>
            <a:endParaRPr lang="en-IN" sz="1400" dirty="0"/>
          </a:p>
          <a:p>
            <a:r>
              <a:rPr lang="en-IN" sz="1400" dirty="0"/>
              <a:t>Analyse benchmark results, create comparison tables and plots, calculate confidence intervals, and compare MTL with the baseline.</a:t>
            </a:r>
          </a:p>
        </p:txBody>
      </p:sp>
      <p:sp>
        <p:nvSpPr>
          <p:cNvPr id="30" name="Text 28"/>
          <p:cNvSpPr/>
          <p:nvPr/>
        </p:nvSpPr>
        <p:spPr>
          <a:xfrm>
            <a:off x="9509760" y="155448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EEF0FF"/>
          </a:solidFill>
          <a:ln w="15875">
            <a:solidFill>
              <a:srgbClr val="1A1AC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46920" y="1691640"/>
            <a:ext cx="502920" cy="502920"/>
          </a:xfrm>
          <a:prstGeom prst="ellipse">
            <a:avLst/>
          </a:prstGeom>
          <a:solidFill>
            <a:srgbClr val="1A1AC8"/>
          </a:solidFill>
          <a:ln w="12700">
            <a:solidFill>
              <a:srgbClr val="1A1AC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469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demo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64692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All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631680" y="269748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Date:</a:t>
            </a:r>
            <a:r>
              <a:rPr lang="en-IN" sz="1400" dirty="0"/>
              <a:t> 20–22 Oct </a:t>
            </a:r>
          </a:p>
          <a:p>
            <a:endParaRPr lang="en-IN" sz="1400"/>
          </a:p>
          <a:p>
            <a:r>
              <a:rPr lang="en-IN" sz="1400"/>
              <a:t>Complete </a:t>
            </a:r>
            <a:r>
              <a:rPr lang="en-IN" sz="1400" dirty="0"/>
              <a:t>the final report, verify the results, rehearse the demonstration and prepare the final presentation.</a:t>
            </a:r>
          </a:p>
          <a:p>
            <a:endParaRPr lang="en-IN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environment and implementation. B: harness and measurement. C: analysis, report, demo. Everyone reviews someone else's work. Dates are added once the hackathon schedule is fixed.</a:t>
            </a:r>
            <a:endParaRPr lang="en-US" sz="1400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Bibliography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Akshaj </a:t>
            </a:r>
            <a:r>
              <a:rPr lang="en-US" sz="1100" dirty="0" err="1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Shimoga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 Harini ,Aiman Suhana Khan •  A3-PS036-TC176</a:t>
            </a:r>
            <a:r>
              <a:rPr lang="en-US" sz="1100" dirty="0">
                <a:solidFill>
                  <a:srgbClr val="1A1AC8"/>
                </a:solidFill>
              </a:rPr>
              <a:t> </a:t>
            </a: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October 13,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R. Arends et al., "DNS Security Introduction and Requirements," RFC 4033; "Resource Records for the DNS Security Extensions," RFC 4034; "Protocol Modifications for the DNS Security Extensions," RFC 4035. IETF, 2005.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NIST, "Stateless Hash-Based Digital Signature Standard," FIPS 205, 2024. Also FIPS 204 (ML-DSA) for the size comparison.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Internet-Draft draft-harvey-cfrg-mtl-mode (Merkle Tree Ladder mode). Work in progress.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K. Fujiwara and P. Vixie, "IP Fragmentation Avoidance in DNS over UDP," RFC 9715. IETF, 2025.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1205</Words>
  <Application>Microsoft Office PowerPoint</Application>
  <PresentationFormat>Widescreen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HARINI NAYAK</cp:lastModifiedBy>
  <cp:revision>3</cp:revision>
  <dcterms:created xsi:type="dcterms:W3CDTF">2026-10-13T17:59:33Z</dcterms:created>
  <dcterms:modified xsi:type="dcterms:W3CDTF">2026-10-13T20:10:04Z</dcterms:modified>
</cp:coreProperties>
</file>